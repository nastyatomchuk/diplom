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6" r:id="rId2"/>
    <p:sldId id="256" r:id="rId3"/>
    <p:sldId id="257" r:id="rId4"/>
    <p:sldId id="267" r:id="rId5"/>
    <p:sldId id="318" r:id="rId6"/>
    <p:sldId id="290" r:id="rId7"/>
    <p:sldId id="276" r:id="rId8"/>
    <p:sldId id="263" r:id="rId9"/>
    <p:sldId id="299" r:id="rId10"/>
    <p:sldId id="300" r:id="rId11"/>
    <p:sldId id="301" r:id="rId12"/>
    <p:sldId id="302" r:id="rId13"/>
    <p:sldId id="303" r:id="rId14"/>
    <p:sldId id="304" r:id="rId15"/>
    <p:sldId id="319" r:id="rId16"/>
    <p:sldId id="305" r:id="rId17"/>
    <p:sldId id="264" r:id="rId18"/>
    <p:sldId id="306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EE9"/>
    <a:srgbClr val="B8F5F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3" autoAdjust="0"/>
    <p:restoredTop sz="94660"/>
  </p:normalViewPr>
  <p:slideViewPr>
    <p:cSldViewPr snapToGrid="0">
      <p:cViewPr>
        <p:scale>
          <a:sx n="100" d="100"/>
          <a:sy n="100" d="100"/>
        </p:scale>
        <p:origin x="2604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42:57.7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809 142 24575,'-26'0'0,"-24"1"0,0-2 0,0-3 0,-71-13 0,-126-55 0,181 55 0,-98-12 0,162 28 0,0 1 0,0-1 0,0 1 0,1 0 0,-1 0 0,0 0 0,0 0 0,0 0 0,0 0 0,1 0 0,-1 1 0,0-1 0,0 1 0,0-1 0,1 1 0,-4 1 0,5-1 0,0-1 0,0 1 0,0 0 0,0 0 0,0-1 0,1 1 0,-1 0 0,0 0 0,0-1 0,1 1 0,-1 0 0,0-1 0,1 1 0,-1 0 0,0-1 0,1 1 0,-1-1 0,1 1 0,0-1 0,-1 1 0,1-1 0,-1 1 0,1-1 0,0 1 0,-1-1 0,2 1 0,7 5 0,0 0 0,0 0 0,1-1 0,14 5 0,105 34 0,70 21 0,-172-59 0,1-2 0,0 0 0,51-2 0,-46-2 0,-1 2 0,45 7 0,-29-1 0,69 1 0,-35-3 0,-80-6 0,1 0 0,0 0 0,-1 1 0,1-1 0,-1 1 0,1 0 0,-1-1 0,1 1 0,-1 0 0,0 1 0,1-1 0,-1 0 0,0 1 0,3 1 0,-5-2 0,0-1 0,0 0 0,1 1 0,-1-1 0,0 1 0,0-1 0,0 1 0,1-1 0,-1 1 0,0-1 0,0 0 0,0 1 0,0-1 0,0 1 0,0-1 0,0 1 0,0-1 0,0 1 0,0-1 0,0 1 0,0-1 0,-1 1 0,1-1 0,0 1 0,0-1 0,0 0 0,-1 1 0,-19 16 0,10-12 0,0-1 0,-1 0 0,1 0 0,-1-1 0,0-1 0,0 1 0,-12-1 0,-85 2 0,79-5 0,0 2 0,-48 6 0,-67 10 0,77-11 0,-16 10 0,60-10 0,0-1 0,-26 1 0,-146-4 0,159-3 0,36 1 0,0 0 0,0 0 0,0 0 0,0 0 0,0 0 0,0 0 0,0 1 0,0-1 0,0 0 0,1 0 0,-1 0 0,0 0 0,0 0 0,0 0 0,0 0 0,0 0 0,0 0 0,0 0 0,0 0 0,0 0 0,0 0 0,0 0 0,0 1 0,0-1 0,0 0 0,0 0 0,0 0 0,0 0 0,0 0 0,0 0 0,0 0 0,0 0 0,0 0 0,0 0 0,-1 0 0,1 0 0,0 0 0,0 0 0,0 1 0,0-1 0,0 0 0,0 0 0,0 0 0,0 0 0,0 0 0,13 6 0,21 6 0,203 25 0,73 41 0,-279-63 0,-26-5 0,-19-1 0,-369 69 0,238-45 0,93-17-1365,30-8-5461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43:03.5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603 710 24575,'33'0'0,"0"2"0,35 6 0,-58-7 0,0 1 0,0 0 0,0 1 0,-1 1 0,1-1 0,-1 1 0,0 1 0,0 0 0,-1 0 0,1 0 0,8 9 0,-13-9 0,0 0 0,0 0 0,-1 0 0,0 1 0,0-1 0,0 1 0,0 0 0,-1 0 0,0 0 0,-1 0 0,1 0 0,-1 0 0,0 0 0,0 9 0,0 15 0,-5 53 0,1-36 0,3-6 0,0-18 0,0-1 0,-2 0 0,0 0 0,-9 36 0,10-53 0,-1 0 0,0 0 0,0 0 0,0 0 0,0 0 0,-1-1 0,0 1 0,0-1 0,0 0 0,-1 0 0,0 0 0,1 0 0,-1 0 0,-1-1 0,1 1 0,0-1 0,-1-1 0,1 1 0,-1 0 0,0-1 0,0 0 0,0 0 0,0-1 0,-8 2 0,2-1 0,0 1 0,0 1 0,1-1 0,-1 1 0,1 1 0,0 0 0,-16 10 0,17-9 0,-1-1 0,0-1 0,0 0 0,-1 0 0,1-1 0,-1 0 0,0-1 0,0 0 0,1-1 0,-1 0 0,0-1 0,0 0 0,0-1 0,-17-3 0,16 2 0,-1 0 0,1-1 0,1-1 0,-1 0 0,0-1 0,1 0 0,0 0 0,0-1 0,1-1 0,0 0 0,0 0 0,-15-15 0,-98-95 0,23 24 0,86 79 0,0 0 0,2-1 0,0-1 0,-19-31 0,25 35 0,1 0 0,0 0 0,1-1 0,0 1 0,1-1 0,1 0 0,0 0 0,-1-17 0,4-238 0,1 109 0,-2 150 0,0 1 0,1-1 0,0 1 0,0-1 0,1 0 0,0 1 0,0 0 0,1 0 0,0 0 0,1 0 0,0 0 0,7-11 0,-7 14 0,0 0 0,1 1 0,-1-1 0,1 1 0,0 0 0,0 0 0,0 1 0,0 0 0,1-1 0,0 2 0,-1-1 0,1 1 0,0 0 0,0 0 0,0 1 0,0-1 0,13 0 0,136-19 0,-89 8 0,-18 4 0,-2-2 0,50-18 0,-11-1 0,125-27 0,-183 50 0,50-21 0,-57 19 0,0 2 0,0 0 0,1 1 0,-1 1 0,25-3 0,278 6 0,-154 5 0,-155-2 0,0 1 0,0 1 0,-1 0 0,1 0 0,-1 2 0,0-1 0,0 2 0,0-1 0,-1 2 0,0 0 0,14 10 0,27 14 0,-46-26 0,-1 0 0,1 0 0,-1 1 0,0 0 0,-1 0 0,1 0 0,-1 1 0,0 0 0,-1 0 0,0 0 0,0 0 0,3 9 0,-2-5 0,1-1 0,0 1 0,0-1 0,1 0 0,11 11 0,27 17 0,-31-26 0,0 0 0,23 25 0,-8-3 0,-10-12 0,28 41 0,-41-56 0,-1 0 0,1 0 0,0-1 0,1 1 0,-1-2 0,1 1 0,1-1 0,-1 0 0,10 5 0,26 19 0,-39-24 0,1 0 0,-1 1 0,0-1 0,0 1 0,-1 0 0,0 0 0,0 0 0,0 0 0,-1 1 0,0-1 0,0 1 0,0 0 0,-1-1 0,0 1 0,0 14 0,0-4 0,-1 1 0,-1-1 0,-1 1 0,0-1 0,-5 20 0,-1-16 0,-1 0 0,0-1 0,-2 0 0,-24 34 0,4-5 0,20-31 0,0-1 0,-1-1 0,-1 0 0,-29 28 0,33-36 0,0-1 0,-1 0 0,1 0 0,-2-1 0,1 0 0,0-1 0,-1 0 0,0-1 0,-23 7 0,-12 0 0,1 2 0,0 2 0,-55 27 0,84-36 0,1 0 0,-1-2 0,0 1 0,-1-2 0,1 0 0,-1-1 0,1-1 0,-1 0 0,1-2 0,-1 1 0,1-2 0,-1 0 0,1-1 0,0-1 0,0-1 0,0 0 0,0-1 0,1 0 0,0-1 0,0-1 0,1-1 0,-26-19 0,-2-14 0,25 25 0,-1-1 0,-1 2 0,-39-27 0,43 34 0,0 0 0,1-1 0,1-1 0,-1 0 0,2-1 0,0-1 0,0 1 0,1-2 0,1 0 0,0 0 0,1-1 0,-11-23 0,3 0-94,-2 0 0,-32-49 0,30 53-989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43:09.9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581 146 24575,'-39'28'0,"16"-8"0,19-16 0,-1 1 0,0-1 0,0 0 0,-1-1 0,1 1 0,-9 3 0,-35 8 0,-10 5 0,1 9 0,-1-3 0,-91 28 0,141-52 0,-1 1 0,0-1 0,0-1 0,1 1 0,-1-2 0,0 1 0,0-2 0,-11 0 0,46-44 0,155-202 0,-105 162-1365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2D90B-614B-4BEA-AF73-760DACBB3A61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964A8-39A1-4216-B9F5-2BE4796F2D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812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5F67E-993F-431F-A08C-E45B68AE6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339" y="1009266"/>
            <a:ext cx="6378341" cy="2387600"/>
          </a:xfrm>
        </p:spPr>
        <p:txBody>
          <a:bodyPr anchor="b"/>
          <a:lstStyle>
            <a:lvl1pPr algn="ctr">
              <a:defRPr sz="60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94E5BA-3631-4350-B879-9E4D47590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339" y="3727167"/>
            <a:ext cx="5694947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D08278-D988-40BA-9D6E-30809762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E6618210-AA3C-4E5C-8A8F-AA37F5428033}" type="datetimeFigureOut">
              <a:rPr lang="ru-RU" smtClean="0"/>
              <a:pPr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E7A21-8122-4DEB-9367-1A8F2A85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1B45FA-8D82-49B8-AF8C-62AC87B7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fld id="{F2B82F82-4D2C-48BD-8F54-4A7BAA97B53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04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65C3D-4FE4-4016-9516-175CB1F81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0577" y="18616"/>
            <a:ext cx="9245868" cy="1069039"/>
          </a:xfrm>
        </p:spPr>
        <p:txBody>
          <a:bodyPr>
            <a:normAutofit/>
          </a:bodyPr>
          <a:lstStyle>
            <a:lvl1pPr>
              <a:defRPr sz="54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A558D4-9753-40E4-B34D-D088F2769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A8B73C-8744-4547-AC4E-9445A4254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294C85-328D-4160-AFB8-A0579446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BC8B44-D09A-4DB2-AD13-4D1BCE2A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36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BEFD3-42A7-40D4-AE15-06B41A69A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D87512-81CE-43DD-83C1-0194C03DC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D38D8C-1E6C-4603-AE65-B38DD4F0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A582A2-5E7D-485A-896E-2C84108A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ED6AD7-041E-463D-A9B6-DB4319A1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74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23234-07AF-4BD9-97F7-20AEF958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C737C2-1435-4654-BF19-C417FA068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79B334-160F-4633-98A4-4BD9CCBBC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C676CA-5D96-4C8D-AF68-CA3714030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4A252F-1666-4B65-9D54-C2223B07D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768EB8-F2B8-41A7-A0EF-ED80B6CB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77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AE1C-FF38-4BFE-B712-397DDBF6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3B6923-74C8-4877-9899-406265B94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1ADBBF-CB3D-4567-9DF3-6CF4863A0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09527ED-4BFF-4259-83FB-62B134455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35884B-89B4-4FAF-BD14-55E24D3609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20CD5F7-DAB5-4B57-9579-83889F729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2A1D4F-1950-45D5-8F32-A72C3C45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338E15C-FDE6-42B0-B55A-DC3B01593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57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5EA09-37D5-4D29-80A2-4F8DDAA3D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4942A8-27BB-4326-8431-C941C67A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8EBDD14-2718-4270-B20E-8D11D522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7EFBDD-443E-448A-ACF9-BBC243BE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06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FC41FED-1608-4666-8886-8A38B1B1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A495F25-D619-4BCD-8483-4AAD8A39E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209007-F56F-4E5E-8170-15859EA4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42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D41737-08AD-4EDB-9A9F-82017432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E55DB0-9C64-4E83-8C0E-669DCF46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7EA21E-7F3C-4768-A0F4-5F92150CC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5257C7-91F6-4D0B-A014-3BE165FB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57C62C-18AF-41D7-B700-5244780B3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5D2BE1-3656-432B-AB6C-4143BE91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50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21362-D3D5-4D33-893B-B8BF9C3D1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192DC63-A57D-4768-AFCC-DC6F5A463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23BAF7-0E12-46CF-AE31-A6DB8A4BF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DEB881-C36E-4CE1-9451-D1D43F127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A3163F-5E35-4B0E-848B-8A59A851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990EEA-544D-4BD6-A216-42BF5DB5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14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24ED08-9090-4A7B-A2A9-6DBCA3869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EB1221-842C-403E-B1A1-91719B5A8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F001B2-1A7C-4CAD-8733-3AEADA4B3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F1A205-2616-4D1B-B0D4-48D4E243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AABEDE-B4BD-4D75-AE29-38DCED51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55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1DD495-9850-4117-BDA0-9C259257E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87B888-75AB-4F56-88DF-ED76C303B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0A6CAC-4F78-46F2-9AC6-1669A3B08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D5F4FE-012B-4560-9DAC-0A43C520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A8C788-4EC8-4400-93A1-1160414F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15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-416526" y="5667636"/>
            <a:ext cx="1618488" cy="2468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Jigana Agency</a:t>
            </a:r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911353" y="1265829"/>
            <a:ext cx="3261814" cy="4326341"/>
          </a:xfrm>
          <a:solidFill>
            <a:schemeClr val="bg2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5755340" y="2286892"/>
            <a:ext cx="4289613" cy="2284217"/>
          </a:xfrm>
          <a:solidFill>
            <a:schemeClr val="bg2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9514" y="2366205"/>
            <a:ext cx="6019326" cy="2150643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232386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16200000">
            <a:off x="-416526" y="5667636"/>
            <a:ext cx="1618488" cy="2468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Jigana Agency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69274" y="355987"/>
            <a:ext cx="7556914" cy="1163531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838200" y="1638300"/>
            <a:ext cx="5144146" cy="4495800"/>
          </a:xfrm>
          <a:solidFill>
            <a:schemeClr val="bg2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209654" y="1638300"/>
            <a:ext cx="5144146" cy="4495800"/>
          </a:xfrm>
          <a:solidFill>
            <a:schemeClr val="bg2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2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16200000">
            <a:off x="-416526" y="5667636"/>
            <a:ext cx="1618488" cy="2468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Jigana Agency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69274" y="355987"/>
            <a:ext cx="6019326" cy="2150643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5240738" y="2611148"/>
            <a:ext cx="2743200" cy="2370687"/>
          </a:xfrm>
          <a:solidFill>
            <a:schemeClr val="bg2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153400" y="2611148"/>
            <a:ext cx="2743200" cy="1660602"/>
          </a:xfrm>
          <a:solidFill>
            <a:schemeClr val="bg2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2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 animBg="1"/>
      <p:bldP spid="14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5F1F4-0E35-4F4C-824C-B92D65D3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F0AF37-D72C-41CC-991F-A2CA399C7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12139C-4313-415D-96A1-88AD68ED2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18210-AA3C-4E5C-8A8F-AA37F5428033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1AA7C9-98E5-4D19-8D59-E95304CCA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79B958-4CDF-4A11-8B51-3F814BF3D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82F82-4D2C-48BD-8F54-4A7BAA97B5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30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76669" y="6056803"/>
            <a:ext cx="7108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РАЗРАБОТАЛ: студент гр. 281071 </a:t>
            </a:r>
            <a:r>
              <a:rPr lang="ru-RU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А.С.Томчук</a:t>
            </a:r>
            <a:endParaRPr lang="ru-RU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старший преподаватель кафедры </a:t>
            </a:r>
            <a:r>
              <a:rPr lang="ru-RU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ИСиТ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В.А.Сицко</a:t>
            </a:r>
            <a:endParaRPr lang="ru-RU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066223" y="2417637"/>
            <a:ext cx="43872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iriam Libre"/>
              </a:rPr>
              <a:t>ДИПЛОМНЫЙ ПРОЕКТ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876327" y="3600249"/>
            <a:ext cx="64393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en-US" sz="24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Кроссплатформенное мобильное приложение учета и анализа персональных расходов</a:t>
            </a:r>
            <a:endParaRPr lang="en-US" altLang="en-US" sz="24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35902" y="4259640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1694367" y="208804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1963089" y="434806"/>
            <a:ext cx="85934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образования</a:t>
            </a:r>
            <a:b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БЕЛОРУССКИЙ ГОСУДАРСТВЕННЫЙ УНИВЕРСИТЕТ</a:t>
            </a:r>
            <a:b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ИНФОРМАТИКИ И РАДИОЭЛЕКТРОНИКИ</a:t>
            </a:r>
            <a:b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  <a:endParaRPr lang="ru-RU" sz="2000" dirty="0"/>
          </a:p>
        </p:txBody>
      </p:sp>
      <p:sp>
        <p:nvSpPr>
          <p:cNvPr id="16" name="Oval 8"/>
          <p:cNvSpPr/>
          <p:nvPr/>
        </p:nvSpPr>
        <p:spPr>
          <a:xfrm>
            <a:off x="9651182" y="-1445975"/>
            <a:ext cx="4939133" cy="3517423"/>
          </a:xfrm>
          <a:prstGeom prst="ellipse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Oval 8"/>
          <p:cNvSpPr/>
          <p:nvPr/>
        </p:nvSpPr>
        <p:spPr>
          <a:xfrm>
            <a:off x="-1446339" y="4956995"/>
            <a:ext cx="5512562" cy="3287151"/>
          </a:xfrm>
          <a:prstGeom prst="ellipse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F57FD0-E38D-44FB-923F-05E180AA0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319" y="337220"/>
            <a:ext cx="6195461" cy="912636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</a:t>
            </a:r>
            <a:br>
              <a:rPr lang="ru-RU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дипломного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665B7B-0119-40E8-95F7-F4406F919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319" y="1528319"/>
            <a:ext cx="6642550" cy="2085036"/>
          </a:xfrm>
        </p:spPr>
        <p:txBody>
          <a:bodyPr>
            <a:noAutofit/>
          </a:bodyPr>
          <a:lstStyle/>
          <a:p>
            <a:pPr indent="457200" algn="just">
              <a:lnSpc>
                <a:spcPct val="110000"/>
              </a:lnSpc>
              <a:spcBef>
                <a:spcPts val="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дипломного проекта  </a:t>
            </a:r>
            <a:r>
              <a:rPr lang="ru-RU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кроссплатформенного мобильного приложения для учёта и анализа персональных расходов, обеспечивающего интуитивно понятный интерфейс с применением современных архитектурных и технологических решений.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DF038BDE-6281-038F-9284-28F174F0CE79}"/>
                  </a:ext>
                </a:extLst>
              </p14:cNvPr>
              <p14:cNvContentPartPr/>
              <p14:nvPr/>
            </p14:nvContentPartPr>
            <p14:xfrm>
              <a:off x="6172940" y="2120580"/>
              <a:ext cx="357480" cy="23760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DF038BDE-6281-038F-9284-28F174F0CE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6820" y="2114460"/>
                <a:ext cx="3697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3ABE0C2A-6270-4F48-52D5-1A22E80C9E6D}"/>
                  </a:ext>
                </a:extLst>
              </p14:cNvPr>
              <p14:cNvContentPartPr/>
              <p14:nvPr/>
            </p14:nvContentPartPr>
            <p14:xfrm>
              <a:off x="6107420" y="2068740"/>
              <a:ext cx="829800" cy="49788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3ABE0C2A-6270-4F48-52D5-1A22E80C9E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44420" y="2005740"/>
                <a:ext cx="955440" cy="62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FF4DADCE-7A19-958E-C928-81DFEEFE5B48}"/>
                  </a:ext>
                </a:extLst>
              </p14:cNvPr>
              <p14:cNvContentPartPr/>
              <p14:nvPr/>
            </p14:nvContentPartPr>
            <p14:xfrm>
              <a:off x="5965534" y="2964330"/>
              <a:ext cx="209160" cy="136800"/>
            </p14:xfrm>
          </p:contentPart>
        </mc:Choice>
        <mc:Fallback xmlns=""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FF4DADCE-7A19-958E-C928-81DFEEFE5B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02894" y="2901690"/>
                <a:ext cx="334800" cy="26244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Рисунок 9" descr="Изображение выглядит как одежда, мультфильм, снимок экрана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5E71F4-198A-85C4-AB6E-133A8B12229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974" r="7099"/>
          <a:stretch>
            <a:fillRect/>
          </a:stretch>
        </p:blipFill>
        <p:spPr>
          <a:xfrm>
            <a:off x="5699594" y="-1"/>
            <a:ext cx="6492406" cy="681375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2E1FAF-A6D7-1628-32EF-2791DB37C067}"/>
              </a:ext>
            </a:extLst>
          </p:cNvPr>
          <p:cNvSpPr/>
          <p:nvPr/>
        </p:nvSpPr>
        <p:spPr>
          <a:xfrm>
            <a:off x="6376780" y="1992989"/>
            <a:ext cx="663678" cy="5736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69D00-2E6E-2D73-C07E-63322BD3448E}"/>
              </a:ext>
            </a:extLst>
          </p:cNvPr>
          <p:cNvSpPr txBox="1"/>
          <p:nvPr/>
        </p:nvSpPr>
        <p:spPr>
          <a:xfrm>
            <a:off x="284556" y="3498840"/>
            <a:ext cx="653931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 defTabSz="715963"/>
            <a:r>
              <a:rPr lang="ru-RU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дипломного проекта</a:t>
            </a:r>
            <a:r>
              <a:rPr lang="ru-RU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indent="457200" algn="just" defTabSz="0"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проанализировать предметную область и существующие аналоги;</a:t>
            </a:r>
          </a:p>
          <a:p>
            <a:pPr indent="457200" algn="just" defTabSz="715963"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сформулировать требования к функционалу и интерфейсу приложения;</a:t>
            </a:r>
          </a:p>
          <a:p>
            <a:pPr indent="457200" algn="just" defTabSz="715963"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спроектировать структуру приложения;</a:t>
            </a:r>
          </a:p>
          <a:p>
            <a:pPr indent="457200" algn="just" defTabSz="715963"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разработать функциональные модули;</a:t>
            </a:r>
          </a:p>
          <a:p>
            <a:pPr indent="457200" algn="just" defTabSz="715963"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реализовать алгоритмы аналитики и безопасности; </a:t>
            </a:r>
          </a:p>
          <a:p>
            <a:pPr indent="457200" algn="just" defTabSz="715963">
              <a:buFont typeface="Times New Roman" panose="02020603050405020304" pitchFamily="18" charset="0"/>
              <a:buChar char="‒"/>
            </a:pPr>
            <a:r>
              <a:rPr lang="ru-RU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провести тестирование функциональности и удобства использования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2801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27A84-B571-40A6-9442-C07B6F60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066" y="146517"/>
            <a:ext cx="9245868" cy="1069039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745217-64B4-4F80-9F7C-3B795062D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разработки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–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разрозненность существующих процессов и отсутствием единой универсальной системы менеджмента бюджета;</a:t>
            </a:r>
          </a:p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Char char="–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у пользователей системного контроля бюджета;</a:t>
            </a:r>
          </a:p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Char char="–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наглядного анализа расходов и доходов;</a:t>
            </a:r>
          </a:p>
          <a:p>
            <a:pPr marL="0" indent="457200" algn="just">
              <a:lnSpc>
                <a:spcPct val="100000"/>
              </a:lnSpc>
              <a:buFont typeface="Arial" panose="020B0604020202020204" pitchFamily="34" charset="0"/>
              <a:buChar char="–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востребованность цифровых инструментов финансового планирования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 заключается в создании современного цифрового инструмента, который способствует формированию финансовой дисциплины и упрощает процесс принятия экономических решений.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52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4D3E-75A7-D2F1-7EE3-5D78E478E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870B4-3E3B-B652-48C7-43618585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066" y="146517"/>
            <a:ext cx="9245868" cy="1069039"/>
          </a:xfrm>
        </p:spPr>
        <p:txBody>
          <a:bodyPr/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Выполняемые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B76C0A-3F52-FF6F-8606-C55548555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720" y="1442546"/>
            <a:ext cx="11728560" cy="5268937"/>
          </a:xfrm>
        </p:spPr>
        <p:txBody>
          <a:bodyPr>
            <a:noAutofit/>
          </a:bodyPr>
          <a:lstStyle/>
          <a:p>
            <a:pPr marL="0" indent="-4572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добавление, редактирование и удаление записей о доходах и расходах с возможностью выбора категории, даты и валюты; </a:t>
            </a:r>
          </a:p>
          <a:p>
            <a:pPr marL="0" indent="-4572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финансовых операций в виде списка с возможностью фильтрации по дате, категории или типу операции;</a:t>
            </a:r>
          </a:p>
          <a:p>
            <a:pPr marL="0" indent="-4572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ведение учёта в нескольких; </a:t>
            </a:r>
          </a:p>
          <a:p>
            <a:pPr marL="0" indent="-4572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индивидуального бюджета с указанием лимита на определённый период и уведомления при его превышении;</a:t>
            </a:r>
          </a:p>
          <a:p>
            <a:pPr marL="0" indent="-4572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авторизации пользователя PIN-кода или биометрической аутентификации (Face/Touch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-4572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локализации интерфейса (многоязычный интерфейс);</a:t>
            </a:r>
          </a:p>
          <a:p>
            <a:pPr marL="0" indent="-4572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локального хранения данных с опцией синхронизации и резервного копирования;</a:t>
            </a:r>
          </a:p>
          <a:p>
            <a:pPr marL="0" indent="-457200" algn="just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Char char="‒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пользователю аналитических данных по динамике доходов, расходов и накоплений за выбранный период.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32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47289-257D-59BB-0A84-C8945AEC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DB0294-F917-A9AE-3F30-10CFA444E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21" y="452064"/>
            <a:ext cx="2882773" cy="52850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A0E921-BC2A-50DD-1BC6-607487A92178}"/>
              </a:ext>
            </a:extLst>
          </p:cNvPr>
          <p:cNvSpPr txBox="1"/>
          <p:nvPr/>
        </p:nvSpPr>
        <p:spPr>
          <a:xfrm>
            <a:off x="870016" y="5851938"/>
            <a:ext cx="29695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YNAB (You Need A Budget)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pic>
        <p:nvPicPr>
          <p:cNvPr id="13" name="Рисунок 12" descr="Изображение выглядит как текст, снимок экрана, Шрифт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DBB223-246E-79DC-4200-D8881A86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262" y="452064"/>
            <a:ext cx="2699476" cy="52850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034083-F93E-722B-AB07-85D890C19FBB}"/>
              </a:ext>
            </a:extLst>
          </p:cNvPr>
          <p:cNvSpPr txBox="1"/>
          <p:nvPr/>
        </p:nvSpPr>
        <p:spPr>
          <a:xfrm>
            <a:off x="5338188" y="5977878"/>
            <a:ext cx="1515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«Финансы»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BCD2A1-D5ED-2695-D671-A2404684EBB0}"/>
              </a:ext>
            </a:extLst>
          </p:cNvPr>
          <p:cNvSpPr txBox="1"/>
          <p:nvPr/>
        </p:nvSpPr>
        <p:spPr>
          <a:xfrm>
            <a:off x="8352479" y="5945481"/>
            <a:ext cx="25060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«Расходы и личный бюджет»</a:t>
            </a:r>
          </a:p>
        </p:txBody>
      </p:sp>
      <p:pic>
        <p:nvPicPr>
          <p:cNvPr id="20" name="Рисунок 19" descr="Изображение выглядит как текст, снимок экрана, круг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C6E507-2B5E-C4CB-6FE7-47E0412FC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206" y="452064"/>
            <a:ext cx="2882773" cy="52850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333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52793-864C-EE8B-A0D8-812315B2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12E17-5858-F084-8AB1-1C2F7851C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066" y="146517"/>
            <a:ext cx="9207634" cy="1069039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аналогами</a:t>
            </a:r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EA90C9D9-A4E4-3D46-E890-E8BD88C052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288942"/>
              </p:ext>
            </p:extLst>
          </p:nvPr>
        </p:nvGraphicFramePr>
        <p:xfrm>
          <a:off x="334883" y="1215556"/>
          <a:ext cx="11484000" cy="5329054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537346399"/>
                    </a:ext>
                  </a:extLst>
                </a:gridCol>
                <a:gridCol w="1863100">
                  <a:extLst>
                    <a:ext uri="{9D8B030D-6E8A-4147-A177-3AD203B41FA5}">
                      <a16:colId xmlns:a16="http://schemas.microsoft.com/office/drawing/2014/main" val="4054797776"/>
                    </a:ext>
                  </a:extLst>
                </a:gridCol>
                <a:gridCol w="1832600">
                  <a:extLst>
                    <a:ext uri="{9D8B030D-6E8A-4147-A177-3AD203B41FA5}">
                      <a16:colId xmlns:a16="http://schemas.microsoft.com/office/drawing/2014/main" val="632329716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1146240488"/>
                    </a:ext>
                  </a:extLst>
                </a:gridCol>
                <a:gridCol w="2568600">
                  <a:extLst>
                    <a:ext uri="{9D8B030D-6E8A-4147-A177-3AD203B41FA5}">
                      <a16:colId xmlns:a16="http://schemas.microsoft.com/office/drawing/2014/main" val="3641193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 Need A Budget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«Финансы»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«Расходы и личный бюджет»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FinanceHand</a:t>
                      </a: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(разрабатываемое приложение)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328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Кроссплатформенность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 (</a:t>
                      </a:r>
                      <a:r>
                        <a:rPr lang="ru-RU" sz="18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</a:t>
                      </a: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09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 распространения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Платное (подписка)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Пробная версия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Бесплатное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Бесплатное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6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Локализация на русский язык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89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Простота интерфейса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 (требует обучения)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4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Добавление транзакций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Многошаговое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Быстрое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1–2 шага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098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Аналитика расходов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Расширенная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Базовая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Упрощённая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Расширенная, но понятная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31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Уведомления о превышении бюджета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07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нескольких валют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675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PIN-код / биометрия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871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Подходит для новичков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17" marR="5317" marT="5317" marB="53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950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00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13">
            <a:extLst>
              <a:ext uri="{FF2B5EF4-FFF2-40B4-BE49-F238E27FC236}">
                <a16:creationId xmlns:a16="http://schemas.microsoft.com/office/drawing/2014/main" id="{8F064714-BF28-0EBC-EF8A-456F1F300737}"/>
              </a:ext>
            </a:extLst>
          </p:cNvPr>
          <p:cNvSpPr/>
          <p:nvPr/>
        </p:nvSpPr>
        <p:spPr>
          <a:xfrm>
            <a:off x="11694367" y="208804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E1CE7D-2A79-A647-3E05-426DE679127C}"/>
              </a:ext>
            </a:extLst>
          </p:cNvPr>
          <p:cNvSpPr txBox="1"/>
          <p:nvPr/>
        </p:nvSpPr>
        <p:spPr>
          <a:xfrm>
            <a:off x="1334272" y="208804"/>
            <a:ext cx="95234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среды и средств разработки</a:t>
            </a:r>
            <a:endParaRPr lang="en-BY" sz="4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A764BA-58D8-B8F5-0883-0ED42DB06A72}"/>
              </a:ext>
            </a:extLst>
          </p:cNvPr>
          <p:cNvSpPr txBox="1"/>
          <p:nvPr/>
        </p:nvSpPr>
        <p:spPr>
          <a:xfrm>
            <a:off x="664175" y="871309"/>
            <a:ext cx="1122613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и язык разработки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Framework (Dart 3.0+)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и хранение данных: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sqflite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SharedPreferences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3">
            <a:extLst>
              <a:ext uri="{FF2B5EF4-FFF2-40B4-BE49-F238E27FC236}">
                <a16:creationId xmlns:a16="http://schemas.microsoft.com/office/drawing/2014/main" id="{5BC1C18F-C422-976D-B3A1-534EC70131DC}"/>
              </a:ext>
            </a:extLst>
          </p:cNvPr>
          <p:cNvSpPr/>
          <p:nvPr/>
        </p:nvSpPr>
        <p:spPr>
          <a:xfrm>
            <a:off x="317913" y="4414220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AC852-772A-8541-5BC4-37F0DCC7FC90}"/>
              </a:ext>
            </a:extLst>
          </p:cNvPr>
          <p:cNvSpPr txBox="1"/>
          <p:nvPr/>
        </p:nvSpPr>
        <p:spPr>
          <a:xfrm>
            <a:off x="664175" y="2802181"/>
            <a:ext cx="6866925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Причины выбора: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высокая производительность;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масштабируемость;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широкая поддержка;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удобство сопровождения;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кроссплатформенность;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безопасность данных;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современный UI/UX.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2E8E64-B22F-5B9E-D40D-8858CE355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747" y="993991"/>
            <a:ext cx="609524" cy="60952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79B7AD-2742-0C9E-0E6C-517A3FCA3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02" y="1368802"/>
            <a:ext cx="609524" cy="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80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FE7ABB-0018-41AF-A740-22B510819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460" y="166035"/>
            <a:ext cx="9245868" cy="1069039"/>
          </a:xfrm>
        </p:spPr>
        <p:txBody>
          <a:bodyPr>
            <a:norm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Графическая часть</a:t>
            </a:r>
            <a:endParaRPr lang="en-BY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A7960-C770-1C8C-309A-0E881EACF256}"/>
              </a:ext>
            </a:extLst>
          </p:cNvPr>
          <p:cNvSpPr txBox="1"/>
          <p:nvPr/>
        </p:nvSpPr>
        <p:spPr>
          <a:xfrm>
            <a:off x="943278" y="1859340"/>
            <a:ext cx="86630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Плакаты: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18C05F-6A45-4DD1-BBA5-65E53B31C47B}"/>
              </a:ext>
            </a:extLst>
          </p:cNvPr>
          <p:cNvSpPr txBox="1"/>
          <p:nvPr/>
        </p:nvSpPr>
        <p:spPr>
          <a:xfrm>
            <a:off x="943278" y="4053266"/>
            <a:ext cx="79800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Схемы алгоритмов: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транзакции и пересчет бюджета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Агрегация расходов по категориям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416013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FC3CBB04-BBCB-FDC2-9968-9C6C2A995081}"/>
              </a:ext>
            </a:extLst>
          </p:cNvPr>
          <p:cNvSpPr/>
          <p:nvPr/>
        </p:nvSpPr>
        <p:spPr>
          <a:xfrm>
            <a:off x="268486" y="4574858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BDAC4-EFCC-3445-1A03-8760615602CC}"/>
              </a:ext>
            </a:extLst>
          </p:cNvPr>
          <p:cNvSpPr txBox="1"/>
          <p:nvPr/>
        </p:nvSpPr>
        <p:spPr>
          <a:xfrm>
            <a:off x="0" y="528816"/>
            <a:ext cx="4942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  <a:endParaRPr lang="en-BY" sz="36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 descr="Изображение выглядит как текст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F523C1-09AE-F53E-F820-CE86A398E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2"/>
          <a:stretch>
            <a:fillRect/>
          </a:stretch>
        </p:blipFill>
        <p:spPr>
          <a:xfrm>
            <a:off x="4006406" y="243007"/>
            <a:ext cx="7663249" cy="6145971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328EC98-9D17-9E77-6E2F-48A658EAA810}"/>
              </a:ext>
            </a:extLst>
          </p:cNvPr>
          <p:cNvCxnSpPr>
            <a:cxnSpLocks/>
          </p:cNvCxnSpPr>
          <p:nvPr/>
        </p:nvCxnSpPr>
        <p:spPr>
          <a:xfrm>
            <a:off x="5000625" y="232083"/>
            <a:ext cx="6669030" cy="109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93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BD1B4-DF3A-04C0-0FD6-23FD17092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B357A1A-FB33-9E59-139D-C947AE7CF28F}"/>
              </a:ext>
            </a:extLst>
          </p:cNvPr>
          <p:cNvSpPr/>
          <p:nvPr/>
        </p:nvSpPr>
        <p:spPr>
          <a:xfrm>
            <a:off x="11694367" y="208804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2C8E87A4-70ED-CCCF-6354-544B24FE9A06}"/>
              </a:ext>
            </a:extLst>
          </p:cNvPr>
          <p:cNvSpPr/>
          <p:nvPr/>
        </p:nvSpPr>
        <p:spPr>
          <a:xfrm>
            <a:off x="268486" y="4574858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B75B1-057C-B7BD-E3D9-007A4D8BC353}"/>
              </a:ext>
            </a:extLst>
          </p:cNvPr>
          <p:cNvSpPr txBox="1"/>
          <p:nvPr/>
        </p:nvSpPr>
        <p:spPr>
          <a:xfrm>
            <a:off x="-6386" y="601586"/>
            <a:ext cx="4942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</a:p>
        </p:txBody>
      </p:sp>
      <p:pic>
        <p:nvPicPr>
          <p:cNvPr id="3" name="Рисунок 2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84948DE-5B63-1FF8-176B-995A0AFEB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437" y="0"/>
            <a:ext cx="42105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5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AAF3-68F0-9582-DC37-816654B2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F82B44FE-4B96-7A4D-2582-D1CD61578979}"/>
              </a:ext>
            </a:extLst>
          </p:cNvPr>
          <p:cNvSpPr/>
          <p:nvPr/>
        </p:nvSpPr>
        <p:spPr>
          <a:xfrm>
            <a:off x="268486" y="4574858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CCE996-CFC6-4C8A-C37E-57B90E471247}"/>
              </a:ext>
            </a:extLst>
          </p:cNvPr>
          <p:cNvSpPr txBox="1"/>
          <p:nvPr/>
        </p:nvSpPr>
        <p:spPr>
          <a:xfrm>
            <a:off x="6635063" y="208804"/>
            <a:ext cx="4942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 </a:t>
            </a:r>
          </a:p>
        </p:txBody>
      </p:sp>
      <p:pic>
        <p:nvPicPr>
          <p:cNvPr id="4" name="Рисунок 3" descr="Изображение выглядит как снимок экрана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AA1570-449F-3181-68A0-0BA48C8A2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86" y="104402"/>
            <a:ext cx="10060522" cy="66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7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0FDF4-C6C8-BBFD-D488-5AD926B3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8C4B04D-48CB-2966-3185-86ADDDD12D3F}"/>
              </a:ext>
            </a:extLst>
          </p:cNvPr>
          <p:cNvSpPr/>
          <p:nvPr/>
        </p:nvSpPr>
        <p:spPr>
          <a:xfrm>
            <a:off x="11694367" y="208804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32F0A2BE-A2F3-B200-8836-EDFC651E4070}"/>
              </a:ext>
            </a:extLst>
          </p:cNvPr>
          <p:cNvSpPr/>
          <p:nvPr/>
        </p:nvSpPr>
        <p:spPr>
          <a:xfrm>
            <a:off x="268486" y="4574858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E3AF4-8A2F-8F2A-BB0A-581339EE67D1}"/>
              </a:ext>
            </a:extLst>
          </p:cNvPr>
          <p:cNvSpPr txBox="1"/>
          <p:nvPr/>
        </p:nvSpPr>
        <p:spPr>
          <a:xfrm>
            <a:off x="453670" y="403186"/>
            <a:ext cx="5930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транзакции и пересчет бюджета</a:t>
            </a:r>
          </a:p>
        </p:txBody>
      </p:sp>
      <p:pic>
        <p:nvPicPr>
          <p:cNvPr id="3" name="Рисунок 2" descr="Изображение выглядит как снимок экрана, Графика, графический дизайн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7C0D8E-6989-388A-EBD8-61A276C65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724" y="0"/>
            <a:ext cx="4036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3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7271F-307A-BE7A-82FF-679EF5BF9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5E7D60-98A5-2C3F-7CE7-0C546CC49340}"/>
              </a:ext>
            </a:extLst>
          </p:cNvPr>
          <p:cNvSpPr/>
          <p:nvPr/>
        </p:nvSpPr>
        <p:spPr>
          <a:xfrm>
            <a:off x="11694367" y="208804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915A2E9E-1F7A-0CDC-A70D-3684BBCFFC9C}"/>
              </a:ext>
            </a:extLst>
          </p:cNvPr>
          <p:cNvSpPr/>
          <p:nvPr/>
        </p:nvSpPr>
        <p:spPr>
          <a:xfrm>
            <a:off x="268486" y="4574858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4F432-3F2E-6EED-404D-AFC4725CC0C5}"/>
              </a:ext>
            </a:extLst>
          </p:cNvPr>
          <p:cNvSpPr txBox="1"/>
          <p:nvPr/>
        </p:nvSpPr>
        <p:spPr>
          <a:xfrm>
            <a:off x="247886" y="517397"/>
            <a:ext cx="5930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Агрегация расходов по категориям</a:t>
            </a:r>
          </a:p>
        </p:txBody>
      </p:sp>
      <p:pic>
        <p:nvPicPr>
          <p:cNvPr id="4" name="Рисунок 3" descr="Изображение выглядит как текст, снимок экрана, графический дизайн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2D5B07-2491-8019-0659-8C761669A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940" y="0"/>
            <a:ext cx="44479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3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65586-07CC-2507-BA5B-004B6261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095ED87-455C-94D2-3DFC-4F1972197B02}"/>
              </a:ext>
            </a:extLst>
          </p:cNvPr>
          <p:cNvSpPr/>
          <p:nvPr/>
        </p:nvSpPr>
        <p:spPr>
          <a:xfrm>
            <a:off x="11694367" y="208804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8965E09A-31A1-B441-40A7-EDE67EA1A87C}"/>
              </a:ext>
            </a:extLst>
          </p:cNvPr>
          <p:cNvSpPr/>
          <p:nvPr/>
        </p:nvSpPr>
        <p:spPr>
          <a:xfrm>
            <a:off x="268486" y="4574858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783CED-4172-0B2E-993D-F3EC5809B48E}"/>
              </a:ext>
            </a:extLst>
          </p:cNvPr>
          <p:cNvSpPr txBox="1"/>
          <p:nvPr/>
        </p:nvSpPr>
        <p:spPr>
          <a:xfrm>
            <a:off x="301690" y="565265"/>
            <a:ext cx="593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безопасности</a:t>
            </a:r>
          </a:p>
        </p:txBody>
      </p:sp>
      <p:pic>
        <p:nvPicPr>
          <p:cNvPr id="3" name="Рисунок 2" descr="Изображение выглядит как текст, снимок экрана, графический дизайн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7E7712-887B-6154-209C-9F8F85CC0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834" y="0"/>
            <a:ext cx="4415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1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2C079-C03E-4838-3D3D-528F3D1C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358C65-DADE-2B59-1424-46582C7D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460" y="166035"/>
            <a:ext cx="9245868" cy="1069039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Экономический эффект</a:t>
            </a:r>
            <a:endParaRPr lang="en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F4F68-63BE-05C4-A40D-0CFA5F0605F0}"/>
              </a:ext>
            </a:extLst>
          </p:cNvPr>
          <p:cNvSpPr txBox="1"/>
          <p:nvPr/>
        </p:nvSpPr>
        <p:spPr>
          <a:xfrm>
            <a:off x="520115" y="2660790"/>
            <a:ext cx="113422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2600" indent="-342900">
              <a:buSzPct val="120000"/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Затраты на разработку и реализацию –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10 805,93 руб.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indent="-342900">
              <a:buSzPct val="120000"/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Прирост чистой прибыли – 833333,12 руб.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indent="-342900">
              <a:buSzPct val="120000"/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Рентабельность –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28,93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14361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51FE-3CA4-6642-FA1E-8E07740AE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D59DB-BE1A-38A7-A757-31E7B4BE0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460" y="166035"/>
            <a:ext cx="9245868" cy="1069039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en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1A5B6F-B906-E83A-9017-E1E724398293}"/>
              </a:ext>
            </a:extLst>
          </p:cNvPr>
          <p:cNvSpPr txBox="1"/>
          <p:nvPr/>
        </p:nvSpPr>
        <p:spPr>
          <a:xfrm>
            <a:off x="424865" y="1603515"/>
            <a:ext cx="1134227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выполнения дипломного проекта было разработано кроссплатформенное мобильное приложение учёта и анализа персональных расходов, предназначенное для автоматизации процесса управления личными финансами. </a:t>
            </a:r>
          </a:p>
          <a:p>
            <a:pPr indent="457200" algn="just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проекта реализованы основные функции и проведено тестирование функциональных модулей</a:t>
            </a:r>
          </a:p>
          <a:p>
            <a:pPr indent="457200" algn="just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ценность проекта заключается в создании современного, надёжного и простого инструмента для ведения личного бюджета. Приложение может использоваться широкой аудиторией для контроля расходов, анализа финансовых привычек и планирования бюджета.</a:t>
            </a:r>
            <a:endParaRPr lang="en-BY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414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BF0EED55-FE1E-4D07-A485-2CF0E8D949AF}"/>
              </a:ext>
            </a:extLst>
          </p:cNvPr>
          <p:cNvSpPr txBox="1">
            <a:spLocks/>
          </p:cNvSpPr>
          <p:nvPr/>
        </p:nvSpPr>
        <p:spPr>
          <a:xfrm>
            <a:off x="2362761" y="3429000"/>
            <a:ext cx="7466478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16051493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41E1-9740-CEF6-6B02-E50C77A0A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71577F-CE03-1EFC-6ED6-F2BE02E3AC96}"/>
              </a:ext>
            </a:extLst>
          </p:cNvPr>
          <p:cNvSpPr txBox="1"/>
          <p:nvPr/>
        </p:nvSpPr>
        <p:spPr>
          <a:xfrm>
            <a:off x="4876669" y="6056803"/>
            <a:ext cx="7108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РАЗРАБОТАЛ: студент гр. 281071 </a:t>
            </a:r>
            <a:r>
              <a:rPr lang="ru-RU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А.С.Томчук</a:t>
            </a:r>
            <a:endParaRPr lang="ru-RU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старший преподаватель кафедры </a:t>
            </a:r>
            <a:r>
              <a:rPr lang="ru-RU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ИСиТ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В.А.Сицко</a:t>
            </a:r>
            <a:endParaRPr lang="ru-RU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C9E4ADF-A2D5-31D1-20E3-2DFA2953791A}"/>
              </a:ext>
            </a:extLst>
          </p:cNvPr>
          <p:cNvSpPr/>
          <p:nvPr/>
        </p:nvSpPr>
        <p:spPr>
          <a:xfrm>
            <a:off x="4066223" y="2417637"/>
            <a:ext cx="43872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iriam Libre"/>
              </a:rPr>
              <a:t>ДИПЛОМНЫЙ ПРОЕКТ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E2589B1-68ED-792C-6CD5-3D0D302B5728}"/>
              </a:ext>
            </a:extLst>
          </p:cNvPr>
          <p:cNvSpPr/>
          <p:nvPr/>
        </p:nvSpPr>
        <p:spPr>
          <a:xfrm>
            <a:off x="2876327" y="3600249"/>
            <a:ext cx="64393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en-US" sz="2400" b="1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Кроссплатформенное мобильное приложение учета и анализа персональных расходов</a:t>
            </a:r>
            <a:endParaRPr lang="en-US" altLang="en-US" sz="2400" b="1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CBAE16C-C682-A403-38CE-DA553A9DA8AB}"/>
              </a:ext>
            </a:extLst>
          </p:cNvPr>
          <p:cNvSpPr/>
          <p:nvPr/>
        </p:nvSpPr>
        <p:spPr>
          <a:xfrm>
            <a:off x="335902" y="4259640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AC4FEA3-A3EE-D2E7-586E-5BA4999DD0A1}"/>
              </a:ext>
            </a:extLst>
          </p:cNvPr>
          <p:cNvSpPr/>
          <p:nvPr/>
        </p:nvSpPr>
        <p:spPr>
          <a:xfrm>
            <a:off x="11694367" y="208804"/>
            <a:ext cx="195943" cy="1394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B6CB7F-3319-F4D3-D569-4DC8F4B52A03}"/>
              </a:ext>
            </a:extLst>
          </p:cNvPr>
          <p:cNvSpPr txBox="1"/>
          <p:nvPr/>
        </p:nvSpPr>
        <p:spPr>
          <a:xfrm>
            <a:off x="1963089" y="434806"/>
            <a:ext cx="85934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образования</a:t>
            </a:r>
            <a:b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БЕЛОРУССКИЙ ГОСУДАРСТВЕННЫЙ УНИВЕРСИТЕТ</a:t>
            </a:r>
            <a:b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ИНФОРМАТИКИ И РАДИОЭЛЕКТРОНИКИ</a:t>
            </a:r>
            <a:b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  <a:endParaRPr lang="ru-RU" sz="2000" dirty="0"/>
          </a:p>
        </p:txBody>
      </p:sp>
      <p:sp>
        <p:nvSpPr>
          <p:cNvPr id="16" name="Oval 8">
            <a:extLst>
              <a:ext uri="{FF2B5EF4-FFF2-40B4-BE49-F238E27FC236}">
                <a16:creationId xmlns:a16="http://schemas.microsoft.com/office/drawing/2014/main" id="{FACBEEF0-3BFE-22B6-8D73-4BA34C6B09B8}"/>
              </a:ext>
            </a:extLst>
          </p:cNvPr>
          <p:cNvSpPr/>
          <p:nvPr/>
        </p:nvSpPr>
        <p:spPr>
          <a:xfrm>
            <a:off x="9651182" y="-1445975"/>
            <a:ext cx="4939133" cy="3517423"/>
          </a:xfrm>
          <a:prstGeom prst="ellipse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Oval 8">
            <a:extLst>
              <a:ext uri="{FF2B5EF4-FFF2-40B4-BE49-F238E27FC236}">
                <a16:creationId xmlns:a16="http://schemas.microsoft.com/office/drawing/2014/main" id="{F73BB56A-0422-9D38-5F45-8979006E7D29}"/>
              </a:ext>
            </a:extLst>
          </p:cNvPr>
          <p:cNvSpPr/>
          <p:nvPr/>
        </p:nvSpPr>
        <p:spPr>
          <a:xfrm>
            <a:off x="-1446339" y="4956995"/>
            <a:ext cx="5512562" cy="3287151"/>
          </a:xfrm>
          <a:prstGeom prst="ellipse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77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657</Words>
  <Application>Microsoft Office PowerPoint</Application>
  <PresentationFormat>Широкоэкранный</PresentationFormat>
  <Paragraphs>131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Times New Roman</vt:lpstr>
      <vt:lpstr>Тема Office</vt:lpstr>
      <vt:lpstr>Презентация PowerPoint</vt:lpstr>
      <vt:lpstr>Цели и задачи  дипломного проекта</vt:lpstr>
      <vt:lpstr>Актуальность темы</vt:lpstr>
      <vt:lpstr>Выполняемые функции</vt:lpstr>
      <vt:lpstr>Презентация PowerPoint</vt:lpstr>
      <vt:lpstr>Сравнение с аналогами</vt:lpstr>
      <vt:lpstr>Презентация PowerPoint</vt:lpstr>
      <vt:lpstr>Графическая часть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Экономический эффект</vt:lpstr>
      <vt:lpstr>Заключение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Поиск партнера  по бизнесу</dc:title>
  <dc:creator>User Obstinate</dc:creator>
  <cp:lastModifiedBy>Anastasiya Tomchuk</cp:lastModifiedBy>
  <cp:revision>10</cp:revision>
  <dcterms:created xsi:type="dcterms:W3CDTF">2021-07-26T06:07:50Z</dcterms:created>
  <dcterms:modified xsi:type="dcterms:W3CDTF">2026-01-28T20:24:38Z</dcterms:modified>
</cp:coreProperties>
</file>